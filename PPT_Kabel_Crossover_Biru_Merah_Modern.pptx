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-182880"/>
            <a:ext cx="4389120" cy="7223760"/>
          </a:xfrm>
          <a:prstGeom prst="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49640" y="-182880"/>
            <a:ext cx="3886200" cy="7223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1051560"/>
            <a:ext cx="310896" cy="310896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1920240"/>
            <a:ext cx="201168" cy="201168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2743200"/>
            <a:ext cx="438912" cy="438912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0" y="3886200"/>
            <a:ext cx="274320" cy="274320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4800600"/>
            <a:ext cx="201168" cy="201168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43000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B9D3F1"/>
                </a:solidFill>
                <a:latin typeface="Aptos Display"/>
              </a:defRPr>
            </a:pPr>
            <a:r>
              <a:t>JARINGAN KOMPUTER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6751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KABEL</a:t>
            </a:r>
            <a:br/>
            <a:r>
              <a:t>CROSSOVER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11880"/>
            <a:ext cx="6492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ptos Display"/>
              </a:defRPr>
            </a:pPr>
            <a:r>
              <a:t>Menghubungkan 2 Laptop,</a:t>
            </a:r>
            <a:br/>
            <a:r>
              <a:t>Setting IP, dan Share 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892040"/>
            <a:ext cx="1143000" cy="73152"/>
          </a:xfrm>
          <a:prstGeom prst="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07492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D7E2F0"/>
                </a:solidFill>
                <a:latin typeface="Aptos Display"/>
              </a:defRPr>
            </a:pPr>
            <a:r>
              <a:t>Mata Kuliah Jaringan Komputer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38912"/>
            <a:ext cx="658368" cy="91440"/>
          </a:xfrm>
          <a:prstGeom prst="rect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 Display"/>
              </a:defRPr>
            </a:pPr>
            <a:r>
              <a:t>Alat dan Bahan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02920"/>
            <a:ext cx="502920" cy="502920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658368"/>
          </a:xfrm>
          <a:prstGeom prst="roundRect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ALAT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2432303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331720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B323C"/>
                </a:solidFill>
                <a:latin typeface="Aptos Display"/>
              </a:defRPr>
            </a:pPr>
            <a:r>
              <a:t>Crimping tool (tang crimping)</a:t>
            </a:r>
          </a:p>
        </p:txBody>
      </p:sp>
      <p:sp>
        <p:nvSpPr>
          <p:cNvPr id="12" name="Oval 11"/>
          <p:cNvSpPr/>
          <p:nvPr/>
        </p:nvSpPr>
        <p:spPr>
          <a:xfrm>
            <a:off x="960119" y="3182111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081527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B323C"/>
                </a:solidFill>
                <a:latin typeface="Aptos Display"/>
              </a:defRPr>
            </a:pPr>
            <a:r>
              <a:t>Cutter / stripper kabel</a:t>
            </a:r>
          </a:p>
        </p:txBody>
      </p:sp>
      <p:sp>
        <p:nvSpPr>
          <p:cNvPr id="14" name="Oval 13"/>
          <p:cNvSpPr/>
          <p:nvPr/>
        </p:nvSpPr>
        <p:spPr>
          <a:xfrm>
            <a:off x="960119" y="3931920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831335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B323C"/>
                </a:solidFill>
                <a:latin typeface="Aptos Display"/>
              </a:defRPr>
            </a:pPr>
            <a:r>
              <a:t>LAN tester</a:t>
            </a:r>
          </a:p>
        </p:txBody>
      </p:sp>
      <p:sp>
        <p:nvSpPr>
          <p:cNvPr id="16" name="Oval 15"/>
          <p:cNvSpPr/>
          <p:nvPr/>
        </p:nvSpPr>
        <p:spPr>
          <a:xfrm>
            <a:off x="960119" y="4681728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581144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B323C"/>
                </a:solidFill>
                <a:latin typeface="Aptos Display"/>
              </a:defRPr>
            </a:pPr>
            <a:r>
              <a:t>2 unit laptop (port LAN)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417320"/>
            <a:ext cx="5212080" cy="658368"/>
          </a:xfrm>
          <a:prstGeom prst="round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536192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BAHAN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2432303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2331720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B323C"/>
                </a:solidFill>
                <a:latin typeface="Aptos Display"/>
              </a:defRPr>
            </a:pPr>
            <a:r>
              <a:t>Kabel UTP Cat5e / Cat6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3182111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8" y="3081527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B323C"/>
                </a:solidFill>
                <a:latin typeface="Aptos Display"/>
              </a:defRPr>
            </a:pPr>
            <a:r>
              <a:t>Konektor RJ45 (2 buah)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3931920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2008" y="3831335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B323C"/>
                </a:solidFill>
                <a:latin typeface="Aptos Display"/>
              </a:defRPr>
            </a:pPr>
            <a:r>
              <a:t>Boot konektor (opsional)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14476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80"/>
                </a:solidFill>
                <a:latin typeface="Aptos Display"/>
              </a:defRPr>
            </a:pPr>
            <a:r>
              <a:t>Peralatan digunakan untuk membuat, menguji, dan menghubungkan kabel crossover.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38912"/>
            <a:ext cx="658368" cy="91440"/>
          </a:xfrm>
          <a:prstGeom prst="rect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 Display"/>
              </a:defRPr>
            </a:pPr>
            <a:r>
              <a:t>Susunan Warna Kabel Crossover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02920"/>
            <a:ext cx="502920" cy="502920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697380"/>
                </a:solidFill>
                <a:latin typeface="Aptos Display"/>
              </a:defRPr>
            </a:pPr>
            <a:r>
              <a:t>Satu ujung T568A • ujung lainnya T568B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91640"/>
          <a:ext cx="73152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291840"/>
                <a:gridCol w="3337560"/>
              </a:tblGrid>
              <a:tr h="497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PIN</a:t>
                      </a:r>
                    </a:p>
                  </a:txBody>
                  <a:tcPr>
                    <a:solidFill>
                      <a:srgbClr val="133D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UJUNG 1 — T568A</a:t>
                      </a:r>
                    </a:p>
                  </a:txBody>
                  <a:tcPr>
                    <a:solidFill>
                      <a:srgbClr val="133D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UJUNG 2 — T568B</a:t>
                      </a:r>
                    </a:p>
                  </a:txBody>
                  <a:tcPr>
                    <a:solidFill>
                      <a:srgbClr val="133D70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Putih-Hijau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Putih-Oranye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Hijau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Oranye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Putih-Oranye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Putih-Hijau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Biru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Biru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Putih-Biru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Putih-Biru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Oranye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Hijau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Putih-Coklat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Putih-Coklat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Coklat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323C"/>
                          </a:solidFill>
                        </a:defRPr>
                      </a:pPr>
                      <a:r>
                        <a:t>Coklat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75320" y="1691640"/>
            <a:ext cx="3246120" cy="4480560"/>
          </a:xfrm>
          <a:prstGeom prst="roundRect">
            <a:avLst/>
          </a:prstGeom>
          <a:solidFill>
            <a:srgbClr val="FC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201168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D6363D"/>
                </a:solidFill>
                <a:latin typeface="Aptos Display"/>
              </a:defRPr>
            </a:pPr>
            <a:r>
              <a:t>FUNGSI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606040"/>
            <a:ext cx="25603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B323C"/>
                </a:solidFill>
                <a:latin typeface="Aptos Display"/>
              </a:defRPr>
            </a:pPr>
            <a:r>
              <a:t>Kabel crossover digunakan untuk menghubungkan perangkat yang sejenis, misalnya:</a:t>
            </a:r>
            <a:br/>
            <a:br/>
            <a:r>
              <a:t>Laptop ↔ 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52578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D70"/>
                </a:solidFill>
                <a:latin typeface="Aptos Display"/>
              </a:defRPr>
            </a:pPr>
            <a:r>
              <a:t>T568A + T568B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38912"/>
            <a:ext cx="658368" cy="91440"/>
          </a:xfrm>
          <a:prstGeom prst="rect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 Display"/>
              </a:defRPr>
            </a:pPr>
            <a:r>
              <a:t>Langkah-Langkah Crimping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02920"/>
            <a:ext cx="502920" cy="502920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777240" cy="1143000"/>
          </a:xfrm>
          <a:prstGeom prst="roundRect">
            <a:avLst/>
          </a:prstGeom>
          <a:solidFill>
            <a:srgbClr val="1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39"/>
            <a:ext cx="6583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453895"/>
            <a:ext cx="39776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B323C"/>
                </a:solidFill>
                <a:latin typeface="Aptos Display"/>
              </a:defRPr>
            </a:pPr>
            <a:r>
              <a:t>Kupas selubung luar kabel UTP sekitar 2–3 cm.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777240" cy="1143000"/>
          </a:xfrm>
          <a:prstGeom prst="round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39"/>
            <a:ext cx="6583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453895"/>
            <a:ext cx="39776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B323C"/>
                </a:solidFill>
                <a:latin typeface="Aptos Display"/>
              </a:defRPr>
            </a:pPr>
            <a:r>
              <a:t>Pisahkan 4 pasang kabel, lalu luruskan semuanya.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70632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770632"/>
            <a:ext cx="777240" cy="1143000"/>
          </a:xfrm>
          <a:prstGeom prst="roundRect">
            <a:avLst/>
          </a:prstGeom>
          <a:solidFill>
            <a:srgbClr val="1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07792"/>
            <a:ext cx="6583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2898648"/>
            <a:ext cx="39776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B323C"/>
                </a:solidFill>
                <a:latin typeface="Aptos Display"/>
              </a:defRPr>
            </a:pPr>
            <a:r>
              <a:t>Susun warna sesuai urutan T568A untuk ujung pertama.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770632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2770632"/>
            <a:ext cx="777240" cy="1143000"/>
          </a:xfrm>
          <a:prstGeom prst="round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07792"/>
            <a:ext cx="6583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2898648"/>
            <a:ext cx="39776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B323C"/>
                </a:solidFill>
                <a:latin typeface="Aptos Display"/>
              </a:defRPr>
            </a:pPr>
            <a:r>
              <a:t>Potong ujung kabel agar rata, sekitar 1,2 cm.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15384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215384"/>
            <a:ext cx="777240" cy="1143000"/>
          </a:xfrm>
          <a:prstGeom prst="roundRect">
            <a:avLst/>
          </a:prstGeom>
          <a:solidFill>
            <a:srgbClr val="1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52544"/>
            <a:ext cx="6583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343400"/>
            <a:ext cx="39776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B323C"/>
                </a:solidFill>
                <a:latin typeface="Aptos Display"/>
              </a:defRPr>
            </a:pPr>
            <a:r>
              <a:t>Masukkan kabel ke konektor RJ45 sampai mentok.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215384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4215384"/>
            <a:ext cx="777240" cy="1143000"/>
          </a:xfrm>
          <a:prstGeom prst="round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352544"/>
            <a:ext cx="65836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4343400"/>
            <a:ext cx="39776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B323C"/>
                </a:solidFill>
                <a:latin typeface="Aptos Display"/>
              </a:defRPr>
            </a:pPr>
            <a:r>
              <a:t>Jepit dengan crimping tool sampai terdengar bunyi klik.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38912"/>
            <a:ext cx="658368" cy="91440"/>
          </a:xfrm>
          <a:prstGeom prst="rect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 Display"/>
              </a:defRPr>
            </a:pPr>
            <a:r>
              <a:t>Menyambungkan 2 Laptop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02920"/>
            <a:ext cx="502920" cy="502920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33D70"/>
                </a:solidFill>
                <a:latin typeface="Aptos Display"/>
              </a:defRPr>
            </a:pPr>
            <a:r>
              <a:t>LAPTOP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697380"/>
                </a:solidFill>
                <a:latin typeface="Aptos Display"/>
              </a:defRPr>
            </a:pPr>
            <a:r>
              <a:t>Port 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D6363D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D6363D"/>
                </a:solidFill>
                <a:latin typeface="Aptos Display"/>
              </a:defRPr>
            </a:pPr>
            <a:r>
              <a:t>KABEL</a:t>
            </a:r>
            <a:br/>
            <a:r>
              <a:t>CROSSOVER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337560"/>
            <a:ext cx="2103120" cy="109728"/>
          </a:xfrm>
          <a:prstGeom prst="round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874519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33D70"/>
                </a:solidFill>
                <a:latin typeface="Aptos Display"/>
              </a:defRPr>
            </a:pPr>
            <a:r>
              <a:t>LAPTOP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1752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697380"/>
                </a:solidFill>
                <a:latin typeface="Aptos Display"/>
              </a:defRPr>
            </a:pPr>
            <a:r>
              <a:t>Port 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65760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D6363D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611880" y="2651760"/>
            <a:ext cx="685800" cy="502920"/>
          </a:xfrm>
          <a:prstGeom prst="rightArrow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360920" y="2651760"/>
            <a:ext cx="685800" cy="502920"/>
          </a:xfrm>
          <a:prstGeom prst="rightArrow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18304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617720"/>
            <a:ext cx="9582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2B323C"/>
                </a:solidFill>
                <a:latin typeface="Aptos Display"/>
              </a:defRPr>
            </a:pPr>
            <a:r>
              <a:t>Colokkan kedua ujung kabel ke port LAN masing-masing laptop.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5221224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5120640"/>
            <a:ext cx="9582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2B323C"/>
                </a:solidFill>
                <a:latin typeface="Aptos Display"/>
              </a:defRPr>
            </a:pPr>
            <a:r>
              <a:t>Pastikan lampu indikator port LAN menyala.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5724144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5623560"/>
            <a:ext cx="9582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2B323C"/>
                </a:solidFill>
                <a:latin typeface="Aptos Display"/>
              </a:defRPr>
            </a:pPr>
            <a:r>
              <a:t>Lanjutkan dengan pengaturan IP address.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38912"/>
            <a:ext cx="658368" cy="91440"/>
          </a:xfrm>
          <a:prstGeom prst="rect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 Display"/>
              </a:defRPr>
            </a:pPr>
            <a:r>
              <a:t>Setting IP Address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02920"/>
            <a:ext cx="502920" cy="502920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517904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17320"/>
            <a:ext cx="5468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Tekan Win + R → ketik ncpa.cpl → Enter.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386584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86000"/>
            <a:ext cx="5468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Klik kanan Ethernet → Properties.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255264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154680"/>
            <a:ext cx="5468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Pilih Internet Protocol Version 4 (TCP/IPv4).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123944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023359"/>
            <a:ext cx="5468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Pilih Use the following IP address → isi sesuai tabel.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629400" y="1508760"/>
          <a:ext cx="4892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33D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LAPTOP 1</a:t>
                      </a:r>
                    </a:p>
                  </a:txBody>
                  <a:tcPr>
                    <a:solidFill>
                      <a:srgbClr val="133D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LAPTOP 2</a:t>
                      </a:r>
                    </a:p>
                  </a:txBody>
                  <a:tcPr>
                    <a:solidFill>
                      <a:srgbClr val="133D7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IP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192.168.1.1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192.168.1.2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Subnet Mask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Kosong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323C"/>
                          </a:solidFill>
                        </a:defRPr>
                      </a:pPr>
                      <a:r>
                        <a:t>Kosong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629400" y="4480560"/>
            <a:ext cx="4892040" cy="1051560"/>
          </a:xfrm>
          <a:prstGeom prst="roundRect">
            <a:avLst/>
          </a:prstGeom>
          <a:solidFill>
            <a:srgbClr val="FC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645152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D6363D"/>
                </a:solidFill>
                <a:latin typeface="Aptos Display"/>
              </a:defRPr>
            </a:pPr>
            <a:r>
              <a:t>Tes koneksi di CMD:</a:t>
            </a:r>
            <a:br/>
            <a:r>
              <a:t>ping 192.168.1.2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38912"/>
            <a:ext cx="658368" cy="91440"/>
          </a:xfrm>
          <a:prstGeom prst="rect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 Display"/>
              </a:defRPr>
            </a:pPr>
            <a:r>
              <a:t>Share File via Win + 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02920"/>
            <a:ext cx="502920" cy="502920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F68B1"/>
                </a:solidFill>
                <a:latin typeface="Aptos Display"/>
              </a:defRPr>
            </a:pPr>
            <a:r>
              <a:t>LAPTOP 1 — BAGIKAN FILE</a:t>
            </a:r>
          </a:p>
        </p:txBody>
      </p:sp>
      <p:sp>
        <p:nvSpPr>
          <p:cNvPr id="9" name="Oval 8"/>
          <p:cNvSpPr/>
          <p:nvPr/>
        </p:nvSpPr>
        <p:spPr>
          <a:xfrm>
            <a:off x="960119" y="2523744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423160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Aktifkan Network discovery dan File and printer sharing.</a:t>
            </a:r>
          </a:p>
        </p:txBody>
      </p:sp>
      <p:sp>
        <p:nvSpPr>
          <p:cNvPr id="11" name="Oval 10"/>
          <p:cNvSpPr/>
          <p:nvPr/>
        </p:nvSpPr>
        <p:spPr>
          <a:xfrm>
            <a:off x="960119" y="3438144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337560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Klik kanan folder → Properties → Sharing → Share.</a:t>
            </a:r>
          </a:p>
        </p:txBody>
      </p:sp>
      <p:sp>
        <p:nvSpPr>
          <p:cNvPr id="13" name="Oval 12"/>
          <p:cNvSpPr/>
          <p:nvPr/>
        </p:nvSpPr>
        <p:spPr>
          <a:xfrm>
            <a:off x="960119" y="4352544"/>
            <a:ext cx="146304" cy="146304"/>
          </a:xfrm>
          <a:prstGeom prst="ellipse">
            <a:avLst/>
          </a:prstGeom>
          <a:solidFill>
            <a:srgbClr val="2F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251960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Pilih Everyone, atur izin Read/Write → Share.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27632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D6363D"/>
                </a:solidFill>
                <a:latin typeface="Aptos Display"/>
              </a:defRPr>
            </a:pPr>
            <a:r>
              <a:t>LAPTOP 2 — AKSES FILE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2523744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2423160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Tekan Win + R.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3438144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3337560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Ketik \\192.168.1.1 lalu Enter.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4352544"/>
            <a:ext cx="146304" cy="146304"/>
          </a:xfrm>
          <a:prstGeom prst="ellipse">
            <a:avLst/>
          </a:prstGeom>
          <a:solidFill>
            <a:srgbClr val="D6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4251960"/>
            <a:ext cx="42793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B323C"/>
                </a:solidFill>
                <a:latin typeface="Aptos Display"/>
              </a:defRPr>
            </a:pPr>
            <a:r>
              <a:t>Folder yang dibagikan akan muncul dan siap dibuka.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5989320"/>
            <a:ext cx="5486400" cy="457200"/>
          </a:xfrm>
          <a:prstGeom prst="roundRect">
            <a:avLst/>
          </a:prstGeom>
          <a:solidFill>
            <a:srgbClr val="13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6044184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Selesai — 2 laptop sudah terhubung &amp; file dapat dibagikan.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